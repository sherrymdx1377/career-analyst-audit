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6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D3E5B-4BED-B24C-9674-6B6454D0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7" y="1399032"/>
            <a:ext cx="6757416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 lIns="0" tIns="0" rIns="0" bIns="18288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5029200" cy="2157984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127248"/>
            <a:ext cx="4834517" cy="31089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21A89689-0612-8B49-DF4A-1864B8558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54DA2-6D33-7833-E646-95347EF8B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7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5093208" cy="2189223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8" y="3145536"/>
            <a:ext cx="4306824" cy="23134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214F5-1EBC-DA96-F275-05A0133562D0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3" y="1106424"/>
            <a:ext cx="6839712" cy="1746504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236976"/>
            <a:ext cx="5248656" cy="266090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80960" y="804672"/>
            <a:ext cx="3475649" cy="5248656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1325880"/>
            <a:ext cx="5093208" cy="2816352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6A538-39F8-D45E-F4C1-38779C640BB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10512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06" r="17667" b="23487"/>
          <a:stretch/>
        </p:blipFill>
        <p:spPr>
          <a:xfrm>
            <a:off x="4124294" y="2125402"/>
            <a:ext cx="767806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20624"/>
            <a:ext cx="10954512" cy="146304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00000"/>
              </a:lnSpc>
              <a:defRPr sz="3200" b="0" i="0" spc="6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9CFE2-F1DE-34DA-A154-9AE903E5B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1D5B031-92C7-C093-2551-D07457044EAC}"/>
              </a:ext>
            </a:extLst>
          </p:cNvPr>
          <p:cNvGrpSpPr/>
          <p:nvPr userDrawn="1"/>
        </p:nvGrpSpPr>
        <p:grpSpPr>
          <a:xfrm>
            <a:off x="-1" y="-2"/>
            <a:ext cx="12191610" cy="6858001"/>
            <a:chOff x="-1" y="-2"/>
            <a:chExt cx="12191610" cy="6858001"/>
          </a:xfrm>
        </p:grpSpPr>
        <p:pic>
          <p:nvPicPr>
            <p:cNvPr id="4" name="Picture Placeholder 14" descr="White modern architecture">
              <a:extLst>
                <a:ext uri="{FF2B5EF4-FFF2-40B4-BE49-F238E27FC236}">
                  <a16:creationId xmlns:a16="http://schemas.microsoft.com/office/drawing/2014/main" id="{21A49D77-8AEF-828A-03A8-2845B710D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5" name="Picture Placeholder 14" descr="White modern architecture">
              <a:extLst>
                <a:ext uri="{FF2B5EF4-FFF2-40B4-BE49-F238E27FC236}">
                  <a16:creationId xmlns:a16="http://schemas.microsoft.com/office/drawing/2014/main" id="{206EA98F-16E6-C607-6268-D08FD83B7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E6947B8-AA10-E633-EF28-E1A80069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32" y="0"/>
            <a:ext cx="6894136" cy="6894136"/>
          </a:xfrm>
          <a:custGeom>
            <a:avLst/>
            <a:gdLst>
              <a:gd name="connsiteX0" fmla="*/ 3447068 w 6894136"/>
              <a:gd name="connsiteY0" fmla="*/ 0 h 6894136"/>
              <a:gd name="connsiteX1" fmla="*/ 6894136 w 6894136"/>
              <a:gd name="connsiteY1" fmla="*/ 3447068 h 6894136"/>
              <a:gd name="connsiteX2" fmla="*/ 3447068 w 6894136"/>
              <a:gd name="connsiteY2" fmla="*/ 6894136 h 6894136"/>
              <a:gd name="connsiteX3" fmla="*/ 0 w 6894136"/>
              <a:gd name="connsiteY3" fmla="*/ 3447068 h 6894136"/>
              <a:gd name="connsiteX4" fmla="*/ 3447068 w 6894136"/>
              <a:gd name="connsiteY4" fmla="*/ 0 h 689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4136" h="6894136">
                <a:moveTo>
                  <a:pt x="3447068" y="0"/>
                </a:moveTo>
                <a:cubicBezTo>
                  <a:pt x="5350831" y="0"/>
                  <a:pt x="6894136" y="1543305"/>
                  <a:pt x="6894136" y="3447068"/>
                </a:cubicBezTo>
                <a:cubicBezTo>
                  <a:pt x="6894136" y="5350831"/>
                  <a:pt x="5350831" y="6894136"/>
                  <a:pt x="3447068" y="6894136"/>
                </a:cubicBezTo>
                <a:cubicBezTo>
                  <a:pt x="1543305" y="6894136"/>
                  <a:pt x="0" y="5350831"/>
                  <a:pt x="0" y="3447068"/>
                </a:cubicBezTo>
                <a:cubicBezTo>
                  <a:pt x="0" y="1543305"/>
                  <a:pt x="1543305" y="0"/>
                  <a:pt x="344706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algn="ctr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773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68680"/>
            <a:ext cx="5248656" cy="2157984"/>
          </a:xfrm>
        </p:spPr>
        <p:txBody>
          <a:bodyPr lIns="0" tIns="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75B629-22B4-B399-5D07-4652BF6821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1934275 w 4577463"/>
              <a:gd name="connsiteY7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564249" y="286676"/>
                  <a:pt x="1215784" y="0"/>
                  <a:pt x="19342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B16EE8-89D3-7E4F-90BE-68EAAD85CBB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>
                <a:latin typeface="+mn-lt"/>
              </a:defRPr>
            </a:lvl2pPr>
            <a:lvl3pPr marL="283464" indent="-34290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54864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82296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9984" y="3858768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10085832" cy="1426464"/>
          </a:xfrm>
        </p:spPr>
        <p:txBody>
          <a:bodyPr lIns="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50392" y="3950208"/>
            <a:ext cx="10085832" cy="2331720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8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3941064" cy="4270248"/>
          </a:xfrm>
        </p:spPr>
        <p:txBody>
          <a:bodyPr lIns="9144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 cap="all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614416" y="1837944"/>
            <a:ext cx="5358384" cy="42702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987AE2-5803-BA29-C76B-C9FA864D3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8540B3-3734-5A53-D7E0-D89871A37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0858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6B22B6-D5E7-7C52-B588-374568C8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911096"/>
            <a:ext cx="4837176" cy="28986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cap="none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DBC7A5-FE31-E809-7729-4AFA9CFD0DEB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812280" y="1911096"/>
            <a:ext cx="4453128" cy="1911096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cap="none" baseline="0">
                <a:latin typeface="+mn-lt"/>
              </a:defRPr>
            </a:lvl1pPr>
            <a:lvl2pPr marL="548640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2296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4242816"/>
            <a:ext cx="4123944" cy="261518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82C1C4E7-A67E-5E90-3669-D2982C30E4FC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2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4078224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1" r:id="rId3"/>
    <p:sldLayoutId id="2147483664" r:id="rId4"/>
    <p:sldLayoutId id="2147483659" r:id="rId5"/>
    <p:sldLayoutId id="2147483654" r:id="rId6"/>
    <p:sldLayoutId id="2147483667" r:id="rId7"/>
    <p:sldLayoutId id="2147483665" r:id="rId8"/>
    <p:sldLayoutId id="2147483669" r:id="rId9"/>
    <p:sldLayoutId id="2147483670" r:id="rId10"/>
    <p:sldLayoutId id="2147483652" r:id="rId11"/>
    <p:sldLayoutId id="2147483656" r:id="rId12"/>
    <p:sldLayoutId id="214748366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B7B0AB-7E6D-621B-43E7-5825A644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04672"/>
            <a:ext cx="6839712" cy="1033272"/>
          </a:xfrm>
        </p:spPr>
        <p:txBody>
          <a:bodyPr anchor="b"/>
          <a:lstStyle/>
          <a:p>
            <a:r>
              <a:rPr lang="en-US" dirty="0"/>
              <a:t>Audit Completion Meeting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7F915-9766-1FC8-98BD-D9AE3D5B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9" y="2031706"/>
            <a:ext cx="5697204" cy="4059936"/>
          </a:xfrm>
        </p:spPr>
        <p:txBody>
          <a:bodyPr anchor="b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Key Auditor Communications: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materiality threshold set at 0.1% of pre-tax earnings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Assessment of accounts receivable recoverability was a critical audit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Walkthrough of internal controls over the Order-to-Cash cycle revealed 4 essential control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anticipate issuing an unmodified audit opinion</a:t>
            </a:r>
          </a:p>
        </p:txBody>
      </p:sp>
      <p:pic>
        <p:nvPicPr>
          <p:cNvPr id="14" name="Picture Placeholder 14" descr="White modern architecture">
            <a:extLst>
              <a:ext uri="{FF2B5EF4-FFF2-40B4-BE49-F238E27FC236}">
                <a16:creationId xmlns:a16="http://schemas.microsoft.com/office/drawing/2014/main" id="{F96F20C9-F169-573A-32C0-8FA15642A6D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541" r="2541"/>
          <a:stretch/>
        </p:blipFill>
        <p:spPr>
          <a:xfrm>
            <a:off x="7680960" y="804672"/>
            <a:ext cx="3475649" cy="5248656"/>
          </a:xfrm>
        </p:spPr>
      </p:pic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 txBox="1">
            <a:spLocks/>
          </p:cNvSpPr>
          <p:nvPr/>
        </p:nvSpPr>
        <p:spPr>
          <a:xfrm>
            <a:off x="6622354" y="3330533"/>
            <a:ext cx="2121408" cy="2121408"/>
          </a:xfrm>
          <a:prstGeom prst="ellipse">
            <a:avLst/>
          </a:prstGeom>
          <a:solidFill>
            <a:schemeClr val="accent1">
              <a:alpha val="72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300" b="0" i="0" kern="1200">
                <a:solidFill>
                  <a:schemeClr val="accent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2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 txBox="1">
            <a:spLocks/>
          </p:cNvSpPr>
          <p:nvPr/>
        </p:nvSpPr>
        <p:spPr>
          <a:xfrm>
            <a:off x="10972800" y="1515070"/>
            <a:ext cx="371815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300" b="0" i="0" kern="1200">
                <a:solidFill>
                  <a:schemeClr val="accent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2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CB2D080-C33E-7ABA-4BFC-D6F8F922F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19C93D04-0931-4F52-8692-63C9EF761D94}"/>
              </a:ext>
            </a:extLst>
          </p:cNvPr>
          <p:cNvSpPr txBox="1">
            <a:spLocks/>
          </p:cNvSpPr>
          <p:nvPr/>
        </p:nvSpPr>
        <p:spPr>
          <a:xfrm>
            <a:off x="841248" y="1966550"/>
            <a:ext cx="6839712" cy="32808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cap="all" spc="6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sz="1800" dirty="0"/>
              <a:t>Ashbourne Industries, Inc.</a:t>
            </a:r>
          </a:p>
        </p:txBody>
      </p:sp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51434_win32_KB_V3.potx" id="{43D84336-549C-4EAD-AE8D-BE1D65DE3314}" vid="{2C1BB0A5-2565-4EB8-A5F5-FF12201C54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0E3FE2-6B9B-4C9A-84D9-AD118750D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D1C4F3-182B-4FFD-86F3-85933C0520B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6D4D42E-C7BD-4080-9A83-56BA58F91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modernist presentation</Template>
  <TotalTime>10</TotalTime>
  <Words>68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Avenir Next LT Pro</vt:lpstr>
      <vt:lpstr>Avenir Next LT Pro Light</vt:lpstr>
      <vt:lpstr>Calibri</vt:lpstr>
      <vt:lpstr>Times New Roman</vt:lpstr>
      <vt:lpstr>Custom</vt:lpstr>
      <vt:lpstr>Audit Completion Meeting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Shaghayegh Haghbin [sdwh6702]</dc:creator>
  <cp:lastModifiedBy>Shaghayegh Haghbin [sdwh6702]</cp:lastModifiedBy>
  <cp:revision>1</cp:revision>
  <dcterms:created xsi:type="dcterms:W3CDTF">2025-05-01T14:21:36Z</dcterms:created>
  <dcterms:modified xsi:type="dcterms:W3CDTF">2025-05-01T14:31:42Z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